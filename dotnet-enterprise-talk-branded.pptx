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69" r:id="rId15"/>
    <p:sldId id="270" r:id="rId16"/>
    <p:sldId id="271" r:id="rId17"/>
    <p:sldId id="272" r:id="rId18"/>
    <p:sldId id="273" r:id="rId19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873" autoAdjust="0"/>
  </p:normalViewPr>
  <p:slideViewPr>
    <p:cSldViewPr snapToGrid="0" snapToObjects="1">
      <p:cViewPr varScale="1">
        <p:scale>
          <a:sx n="88" d="100"/>
          <a:sy n="88" d="100"/>
        </p:scale>
        <p:origin x="14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4889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627632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.NET in the Enterprise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542032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D990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Changes When Your Codebase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dirty="0">
                <a:solidFill>
                  <a:srgbClr val="D990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 10 Years of History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66928" y="4206240"/>
            <a:ext cx="1371600" cy="18288"/>
          </a:xfrm>
          <a:prstGeom prst="rect">
            <a:avLst/>
          </a:prstGeom>
          <a:solidFill>
            <a:srgbClr val="2C3A46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6928" y="44348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Ben Hooper   ·   Clear Measure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77316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 err="1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TechBash</a:t>
            </a:r>
            <a:r>
              <a:rPr lang="en-US" sz="12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architecture diagram we all drew.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1031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971800" y="2459736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419856" y="21031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3419856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824728" y="2459736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72784" y="21031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272784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677656" y="2459736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25712" y="21031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9125712" y="2103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Server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" y="3438144"/>
            <a:ext cx="10140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Clean layers. Dependencies point one way. Every class has one reason to change and a test that proves it.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is in every conference talk, every project template, every sample repo on GitHub.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is also not the codebase most of us will open on Monday.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diagram. Year ten.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2971800" y="2167128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419856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3419856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24728" y="2167128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72784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272784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677656" y="2167128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25712" y="1737360"/>
            <a:ext cx="248716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9125712" y="1737360"/>
            <a:ext cx="2487168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the business logic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419856" y="3703320"/>
            <a:ext cx="5138928" cy="68580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 w="254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3419856" y="3703320"/>
            <a:ext cx="5138928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Common  (everything)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1709928" y="2651760"/>
            <a:ext cx="2221992" cy="1051560"/>
          </a:xfrm>
          <a:prstGeom prst="line">
            <a:avLst/>
          </a:prstGeom>
          <a:noFill/>
          <a:ln w="19050">
            <a:solidFill>
              <a:srgbClr val="D990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4562856" y="2651760"/>
            <a:ext cx="914" cy="1051560"/>
          </a:xfrm>
          <a:prstGeom prst="line">
            <a:avLst/>
          </a:prstGeom>
          <a:noFill/>
          <a:ln w="19050">
            <a:solidFill>
              <a:srgbClr val="D990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415784" y="2651760"/>
            <a:ext cx="265176" cy="1051560"/>
          </a:xfrm>
          <a:prstGeom prst="line">
            <a:avLst/>
          </a:prstGeom>
          <a:noFill/>
          <a:ln w="19050">
            <a:solidFill>
              <a:srgbClr val="D990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 flipV="1">
            <a:off x="1709928" y="1764792"/>
            <a:ext cx="914" cy="109728"/>
          </a:xfrm>
          <a:prstGeom prst="line">
            <a:avLst/>
          </a:prstGeom>
          <a:noFill/>
          <a:ln w="1905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1709928" y="1764792"/>
            <a:ext cx="7415784" cy="914"/>
          </a:xfrm>
          <a:prstGeom prst="line">
            <a:avLst/>
          </a:prstGeom>
          <a:noFill/>
          <a:ln w="19050">
            <a:solidFill>
              <a:srgbClr val="BF3F35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123444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controller calls the procedure directly (2013: "it was faster")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9692640" y="3703320"/>
            <a:ext cx="1920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9692640" y="3703320"/>
            <a:ext cx="19202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 and/or magic tool no one talks about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 flipV="1">
            <a:off x="10652760" y="2788920"/>
            <a:ext cx="914" cy="914400"/>
          </a:xfrm>
          <a:prstGeom prst="line">
            <a:avLst/>
          </a:prstGeom>
          <a:noFill/>
          <a:ln w="19050">
            <a:solidFill>
              <a:srgbClr val="BF3F3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9235440" y="4462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edits production data by hand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66928" y="48463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Nobody did anything wrong.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shortcut had a deadline behind it and a reason in a commit message nobody reads.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just accreted.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Nobody wrote a legacy system.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1810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individually reasonable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7955280" y="181051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050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collectively a legacy system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66928" y="2139696"/>
            <a:ext cx="1298448" cy="182880"/>
          </a:xfrm>
          <a:prstGeom prst="rect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66928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project,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.NET 3.5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956816" y="2139696"/>
            <a:ext cx="1298448" cy="182880"/>
          </a:xfrm>
          <a:prstGeom prst="rect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1956816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2013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956816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"Common"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is born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46704" y="2139696"/>
            <a:ext cx="1298448" cy="182880"/>
          </a:xfrm>
          <a:prstGeom prst="rect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3346704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2014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346704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rules move into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procs "for speed"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36592" y="2139696"/>
            <a:ext cx="1298448" cy="182880"/>
          </a:xfrm>
          <a:prstGeom prst="rect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736592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736592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weekend rule,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hard-coded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2139696"/>
            <a:ext cx="1298448" cy="182880"/>
          </a:xfrm>
          <a:prstGeom prst="rect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6126480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6126480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 to 4.8,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tests added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516368" y="2139696"/>
            <a:ext cx="1298448" cy="182880"/>
          </a:xfrm>
          <a:prstGeom prst="rect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516368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516368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"temporary"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30-day month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906256" y="2139696"/>
            <a:ext cx="1298448" cy="182880"/>
          </a:xfrm>
          <a:prstGeom prst="rect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8906256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8906256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port to .NET,</a:t>
            </a:r>
            <a:endParaRPr lang="en-US" sz="11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AppSettings shim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0296144" y="2139696"/>
            <a:ext cx="1298448" cy="182880"/>
          </a:xfrm>
          <a:prstGeom prst="rect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10296144" y="239572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0296144" y="2670048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arrive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66928" y="3794760"/>
            <a:ext cx="11055096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886968" y="40416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 the question is not "how do we rewrite it?"</a:t>
            </a:r>
            <a:endParaRPr lang="en-US" sz="1700" dirty="0"/>
          </a:p>
        </p:txBody>
      </p:sp>
      <p:sp>
        <p:nvSpPr>
          <p:cNvPr id="34" name="Text 30"/>
          <p:cNvSpPr txBox="1"/>
          <p:nvPr/>
        </p:nvSpPr>
        <p:spPr>
          <a:xfrm>
            <a:off x="886968" y="449884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is: how do we make change safe again, one piece at a time, while the business keeps billing customers on it every night? Every technique in the rest of this talk works without stopping the world.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patterns. You will find all of them in week one.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1069848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402336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LOOKS LIKE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10698480" y="18105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" y="2651760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66928" y="2231136"/>
            <a:ext cx="329184" cy="329184"/>
          </a:xfrm>
          <a:prstGeom prst="ellipse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66928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69848" y="22311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gravity-well hub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22311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Common / Business / Utils, referenced by most projects. Every change ripples.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698480" y="22311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1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" y="3255264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66928" y="2834640"/>
            <a:ext cx="329184" cy="329184"/>
          </a:xfrm>
          <a:prstGeom prst="ellipse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566928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069848" y="28346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Logic in stored procedures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4023360" y="28346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and CASE on money, data types that round, called from three places.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0698480" y="2834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66928" y="3858768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66928" y="3438144"/>
            <a:ext cx="329184" cy="329184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66928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69848" y="34381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god class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023360" y="343814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700-5,700 lines, 30+ constructor parameters, "DO NOT REFACTOR".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0698480" y="3438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2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66928" y="4462272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66928" y="4041648"/>
            <a:ext cx="329184" cy="329184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566928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1069848" y="4041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seams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4023360" y="404164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DateTime.Now, Db.Open(), AppSettings.Get(...), .Instance, new BillingManager().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10698480" y="40416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2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66928" y="5065776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566928" y="4645152"/>
            <a:ext cx="329184" cy="329184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566928" y="4645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1069848" y="46451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Compile-time forks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4023360" y="464515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#if PARALLEL, #if LEGACY_TAX: two programs in one tree, one of them tested.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10698480" y="464515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1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566928" y="534924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0092D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None of these are bugs. All of them are reasons nobody is allowed to touch the code.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 does not fix a god class. It makes it legible.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920240"/>
            <a:ext cx="6035040" cy="3291840"/>
          </a:xfrm>
          <a:prstGeom prst="roundRect">
            <a:avLst>
              <a:gd name="adj" fmla="val 1389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2048256"/>
            <a:ext cx="566928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AccountAdjustmentOrchestrator(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IAppSettings appSettings,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IBlobService blobService,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IRepository&lt;Invoice&gt; invoices,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IRepository&lt;LedgerEntry&gt; ledger,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ILockService locks,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IInvoiceService invoiceService,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Lazy&lt;IPaymentStrategyFactory&gt; strategies,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IAllocationService allocation,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ICurrencyService currency,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24 more ...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ILogger logger) : base(...)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967728" y="213969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205472" y="205740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container can build it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205472" y="2350008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resolves in four milliseconds. No human can hold it in their head.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967728" y="314553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205472" y="306324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Constructor parameter count is a free metric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205472" y="3355848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Past about seven, the class is several classes sharing a name.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967728" y="415137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7205472" y="4069080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Split by verb, not by layer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7205472" y="4361688"/>
            <a:ext cx="4517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Group the parameters by the public methods that use them. Each cluster is a class trying to get out.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" y="544068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868680" y="544068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container moved the coupling from "new" to the constructor. That is progress: now you can see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280160"/>
            <a:ext cx="11055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Legacy code is not old code.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is code nobody is </a:t>
            </a:r>
            <a:r>
              <a:rPr lang="en-US" sz="3400" b="1" dirty="0">
                <a:solidFill>
                  <a:srgbClr val="D990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allowed to change</a:t>
            </a: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3063240"/>
            <a:ext cx="110550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C6D0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Rewrites fail for a boring reason: the old system keeps changing while you rebuild it, and the new one has to match behavior nobody wrote down. So the goal is not a new codebase. It is getting back the ability to change this one, safely, a piece at a time, while it keeps running.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" y="4526280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41248" y="45262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Everything after this is one of three moves: map it, seam it, strangle it. Plus the fourth one nobody talks about: leave it alone.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 it in days, not a quarter.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10512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786384" y="194767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786384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316736" y="18745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depends on what, and what is the blast radius?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16736" y="215798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ProjectReference in every .csproj   ·   transitive dependents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9052560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files you have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66928" y="2542032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786384" y="267919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786384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316736" y="26060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too big to hold in your head?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16736" y="288950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   ·   public methods   ·   constructor parameters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9052560" y="2688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files you have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66928" y="3273552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86384" y="341071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786384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316736" y="3337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much of the logic is not in C# at all?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316736" y="362102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procedures with IF / CASE / WHILE   ·   who calls them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9052560" y="341985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files you have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66928" y="4005072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86384" y="414223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786384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1316736" y="40690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does change actually happen?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1316736" y="435254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log, last 12 months   ·   churn x size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9052560" y="4151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history you have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566928" y="4736592"/>
            <a:ext cx="11055096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86384" y="4873752"/>
            <a:ext cx="347472" cy="347472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786384" y="4873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1316736" y="480060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does nobody know?</a:t>
            </a:r>
            <a:endParaRPr 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1316736" y="508406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incidents   ·   roadmap   ·   usage   ·   what people are scared of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9052560" y="48828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F8C6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ask people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566928" y="555955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first four take an afternoon. The fifth takes a week of conversations, and it is the part that decides everything else.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Hotspots: where change meets complexity.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1005840" y="178308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118872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F8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1188720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Changes every sprint, small, often already has seams. Cheap, visible wins.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3136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MeterReadImporter  38 commits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343400" y="178308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4526280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SEAM FIRST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22402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hotspot. Do not rewrite it. Cut one seam at the edge, pin it, move a method at a time.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1363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BillingManager  61 commits, 700 ln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005840" y="361188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1188720" y="3749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88720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Small and stable. Not your problem this year.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361188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905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526280" y="3749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ALONE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Ugly and stable. Put a fence around it and spend the money elsewhere.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4526280" y="49651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ReportGenerator  2 commits, 800 ln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 rot="16200000">
            <a:off x="-274320" y="3474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frequency  ↑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1005840" y="5440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/ complexity  →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818120" y="1783080"/>
            <a:ext cx="3803904" cy="2331720"/>
          </a:xfrm>
          <a:prstGeom prst="roundRect">
            <a:avLst>
              <a:gd name="adj" fmla="val 1961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8019288" y="1911096"/>
            <a:ext cx="343814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churn, last 12 months (PowerShell)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--since="12 months ago" `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--format="" --name-only |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Where-Object { $_ } |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Group-Object |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Sort-Object Count -Descending |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Select-Object -First 20 Count, Name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297680"/>
            <a:ext cx="3803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Multiply by lines of code. The top ten files are where your first month goes. Adam Tornhill calls this "your code as a crime scene"; it is the best cheap signal there is.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85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88720"/>
            <a:ext cx="10597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 the project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6035040" cy="932688"/>
          </a:xfrm>
          <a:prstGeom prst="roundRect">
            <a:avLst>
              <a:gd name="adj" fmla="val 5882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68096" y="2414016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demo1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demo1-real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seam: change behavior without editing that place.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SEAM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324612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REPLACES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" y="2596896"/>
            <a:ext cx="758952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566928" y="2194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 parameter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324612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default choice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1579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new overload; old one chains to production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" y="3145536"/>
            <a:ext cx="758952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66928" y="27432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TimeProvider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246120" y="27432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clock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5669280" y="270662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the BCL since .NET 8; FakeTimeProvider for tests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" y="3694176"/>
            <a:ext cx="758952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66928" y="3291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Plain values / IOptions&lt;T&gt;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24612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configuration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5669280" y="32552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read once at the edge, pass the value in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66928" y="4242816"/>
            <a:ext cx="758952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66928" y="384048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Func&lt;T&gt; / a delegate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3246120" y="3840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single call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5669280" y="380390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smallest seam there is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66928" y="4791456"/>
            <a:ext cx="758952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66928" y="4389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 and Override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3246120" y="43891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virtual method + test subclass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5669280" y="435254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when you cannot touch the constructor yet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66928" y="5340096"/>
            <a:ext cx="758952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66928" y="4937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#if / preprocessor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3246120" y="4937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seam you already have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5669280" y="490118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the one to remove first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503920" y="1828800"/>
            <a:ext cx="3118104" cy="3566160"/>
          </a:xfrm>
          <a:prstGeom prst="roundRect">
            <a:avLst>
              <a:gd name="adj" fmla="val 1760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 txBox="1"/>
          <p:nvPr/>
        </p:nvSpPr>
        <p:spPr>
          <a:xfrm>
            <a:off x="8732520" y="205740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"To me, legacy code is simply code without tests."</a:t>
            </a:r>
            <a:endParaRPr lang="en-US" sz="1500" dirty="0"/>
          </a:p>
        </p:txBody>
      </p:sp>
      <p:sp>
        <p:nvSpPr>
          <p:cNvPr id="35" name="Text 31"/>
          <p:cNvSpPr txBox="1"/>
          <p:nvPr/>
        </p:nvSpPr>
        <p:spPr>
          <a:xfrm>
            <a:off x="8732520" y="31546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Michael Feathers</a:t>
            </a:r>
            <a:endParaRPr lang="en-US" sz="11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2828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Working Effectively with Legacy Code, 2004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8732520" y="3840480"/>
            <a:ext cx="2651760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8732520" y="39776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Still the best book on this subject. Every technique in the next ten minutes has a chapter in 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Parameterize Constructor: zero call sites change.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103120"/>
            <a:ext cx="5257800" cy="3246120"/>
          </a:xfrm>
          <a:prstGeom prst="roundRect">
            <a:avLst>
              <a:gd name="adj" fmla="val 1408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2231136"/>
            <a:ext cx="489204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BillingManager()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_db = Db.Open();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decimal CalculateLateFee(int id)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account = AccountRepository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.GetAccount(_db, id);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DateTime today = DateTime.Now.Date;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182880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BEFORE: THE ONLY WAY IN IS A DATABASE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5989320" y="2103120"/>
            <a:ext cx="5632704" cy="3246120"/>
          </a:xfrm>
          <a:prstGeom prst="roundRect">
            <a:avLst>
              <a:gd name="adj" fmla="val 1408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190488" y="2231136"/>
            <a:ext cx="526694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BillingManager()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this(new SqlBillingData(), TimeProvider.System)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_db = Db.Open();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BillingManager(IBillingData data,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TimeProvider clock)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_data = data; _clock = clock; }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account = _data.GetAccount(id);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DateTime today = _clock.GetLocalNow()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7F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.DateTime.Date;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989320" y="1828800"/>
            <a:ext cx="5632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F8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AFTER: A SECOND DOOR FOR TESTS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562356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868680" y="562356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14 lines added, 3 changed. </a:t>
            </a:r>
            <a:r>
              <a:rPr lang="en-US" sz="1400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16 places construct BillingManager with "new"; none of them change. The first test becomes possible.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Characterization tests: pin what it does.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971800" y="2167128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3419856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3419856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824728" y="2167128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72784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272784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677656" y="2167128"/>
            <a:ext cx="329184" cy="201168"/>
          </a:xfrm>
          <a:prstGeom prst="rightArrow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25712" y="18745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9125712" y="1874520"/>
            <a:ext cx="2286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66928" y="3017520"/>
            <a:ext cx="355701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795528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Where cases come from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95528" y="358444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production snapshot, request logs, shadow traffic, or a spreadsheet Billing Ops already keeps. 240 real inputs beat 20 invented ones.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315968" y="3017520"/>
            <a:ext cx="355701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they assert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544568" y="358444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recorded output, to the cent, including the parts that look like bugs. Especially those.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065008" y="3017520"/>
            <a:ext cx="3557016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8293608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they are for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8293608" y="3584448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Making the next change safe. When real unit tests exist for the behavior, delete them without ceremony.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66928" y="5212080"/>
            <a:ext cx="11055096" cy="548640"/>
          </a:xfrm>
          <a:prstGeom prst="roundRect">
            <a:avLst>
              <a:gd name="adj" fmla="val 10000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868680" y="521208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characterization test has no opinion about what is right. That is the feature.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85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2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88720"/>
            <a:ext cx="10597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seam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6035040" cy="932688"/>
          </a:xfrm>
          <a:prstGeom prst="roundRect">
            <a:avLst>
              <a:gd name="adj" fmla="val 5882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68096" y="2414016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demo2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demo2-break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Introducing DI into code that never had it.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83664"/>
            <a:ext cx="347472" cy="347472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Default constructor chains to production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8521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Poor man's DI. Zero callers change. Tests use the other constructor.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66928" y="2487168"/>
            <a:ext cx="347472" cy="347472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66928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4323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Wrap the statics, do not rewrite them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24323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TimeProvider.System, SqlBillingData over Db.Open(). Adapters around what exists.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09067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6692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30358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composition root, at the edge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852160" y="30358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Program.cs, Startup, Global.asax. The one place that is allowed to say "new".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3694176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566928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97280" y="36393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Move "new" out one class at a time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5852160" y="36393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 hotspot order, not alphabetical order, and never as its own project.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66928" y="4297680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66928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" y="42428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Container last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5852160" y="424281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Once most classes take their dependencies, registering them is the easy part.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66928" y="5029200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868680" y="502920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Service locator is not DI. It is a global variable with a nicer name, and it hides the thirty-four parameters instead of showing them.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Strangler Fig: one door, then move the room.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566928" y="1828800"/>
            <a:ext cx="1463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1828800"/>
            <a:ext cx="14630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66928" y="2487168"/>
            <a:ext cx="1463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66928" y="2487168"/>
            <a:ext cx="14630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66928" y="3145536"/>
            <a:ext cx="14630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66928" y="3145536"/>
            <a:ext cx="146304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029968" y="2084832"/>
            <a:ext cx="1536192" cy="658368"/>
          </a:xfrm>
          <a:prstGeom prst="line">
            <a:avLst/>
          </a:prstGeom>
          <a:noFill/>
          <a:ln w="19050">
            <a:solidFill>
              <a:srgbClr val="8A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2029968" y="2743200"/>
            <a:ext cx="1536192" cy="914"/>
          </a:xfrm>
          <a:prstGeom prst="line">
            <a:avLst/>
          </a:prstGeom>
          <a:noFill/>
          <a:ln w="19050">
            <a:solidFill>
              <a:srgbClr val="8A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 flipV="1">
            <a:off x="2029968" y="2743200"/>
            <a:ext cx="1536192" cy="658368"/>
          </a:xfrm>
          <a:prstGeom prst="line">
            <a:avLst/>
          </a:prstGeom>
          <a:noFill/>
          <a:ln w="19050">
            <a:solidFill>
              <a:srgbClr val="8A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611880" y="23317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3611880" y="2331720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64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FinalBillRouter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64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(the door)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 flipV="1">
            <a:off x="6080760" y="2103120"/>
            <a:ext cx="1508760" cy="502920"/>
          </a:xfrm>
          <a:prstGeom prst="line">
            <a:avLst/>
          </a:prstGeom>
          <a:noFill/>
          <a:ln w="19050">
            <a:solidFill>
              <a:srgbClr val="8A97A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80760" y="2880360"/>
            <a:ext cx="1508760" cy="502920"/>
          </a:xfrm>
          <a:prstGeom prst="line">
            <a:avLst/>
          </a:prstGeom>
          <a:noFill/>
          <a:ln w="19050">
            <a:solidFill>
              <a:srgbClr val="3F8C6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7635240" y="182880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7635240" y="1828800"/>
            <a:ext cx="29260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usp_ProrateFinalBill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635240" y="3108960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6352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F8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FinalBillCalculator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10652760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065276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66928" y="4224528"/>
            <a:ext cx="2651760" cy="109728"/>
          </a:xfrm>
          <a:prstGeom prst="rect">
            <a:avLst/>
          </a:prstGeom>
          <a:solidFill>
            <a:srgbClr val="8A97A3"/>
          </a:solidFill>
          <a:ln w="1270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66928" y="4425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Door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66928" y="4773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 caller goes through the router; it only calls legacy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364992" y="4224528"/>
            <a:ext cx="2651760" cy="109728"/>
          </a:xfrm>
          <a:prstGeom prst="rect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3364992" y="4425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Shadow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3364992" y="4773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both run, legacy answers, every difference recorded and explained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163056" y="4224528"/>
            <a:ext cx="2651760" cy="109728"/>
          </a:xfrm>
          <a:prstGeom prst="rect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6163056" y="4425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Shift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6163056" y="4773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1% → 5% → 25% → 100%, sticky per account, gated on shadow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961120" y="4224528"/>
            <a:ext cx="2651760" cy="109728"/>
          </a:xfrm>
          <a:prstGeom prst="rect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961120" y="4425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Remove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8961120" y="477316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delete the old path. The only step that lowers cost.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Pick your door.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ARE STRANGLING</a:t>
            </a:r>
            <a:endParaRPr lang="en-US" sz="950" dirty="0"/>
          </a:p>
        </p:txBody>
      </p:sp>
      <p:sp>
        <p:nvSpPr>
          <p:cNvPr id="7" name="Text 3"/>
          <p:cNvSpPr txBox="1"/>
          <p:nvPr/>
        </p:nvSpPr>
        <p:spPr>
          <a:xfrm>
            <a:off x="374904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DOOR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7223760" y="18105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.NET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66928" y="2633472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566928" y="2157984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HTTP endpoints / pages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3749040" y="2157984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reverse proxy in front of both apps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7223760" y="215798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64B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YARP + System.Web adapters (Microsoft's incremental ASP.NET → ASP.NET Core path)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66928" y="3236976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566928" y="276148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class or method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3749040" y="276148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interface and a router class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7223760" y="276148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64B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Branch by Abstraction; a feature flag picks the implementation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66928" y="3840480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66928" y="336499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stored procedure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3749040" y="3364992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repository method every caller uses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336499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64B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 compare against recorded results, then route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66928" y="4443984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66928" y="3968496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batch job or consumer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3749040" y="396849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switch in the scheduler or the queue binding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7223760" y="396849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64B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 both; only one is allowed to write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66928" y="5047488"/>
            <a:ext cx="11055096" cy="0"/>
          </a:xfrm>
          <a:prstGeom prst="line">
            <a:avLst/>
          </a:prstGeom>
          <a:noFill/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66928" y="457200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shared internal API</a:t>
            </a:r>
            <a:endParaRPr lang="en-US" sz="1450" dirty="0"/>
          </a:p>
        </p:txBody>
      </p:sp>
      <p:sp>
        <p:nvSpPr>
          <p:cNvPr id="27" name="Text 23"/>
          <p:cNvSpPr txBox="1"/>
          <p:nvPr/>
        </p:nvSpPr>
        <p:spPr>
          <a:xfrm>
            <a:off x="3749040" y="45720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compiler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457200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0064B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[Obsolete] with a date: warnings now, errors later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566928" y="525780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868680" y="525780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door is the whole trick. Once every caller goes through one place, replacing what is behind it is a routing decision, not a project.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logic in stored procedures.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920240"/>
            <a:ext cx="6583680" cy="2514600"/>
          </a:xfrm>
          <a:prstGeom prst="roundRect">
            <a:avLst>
              <a:gd name="adj" fmla="val 1818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2048256"/>
            <a:ext cx="621792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@Days  INT = DATEDIFF(DAY, @CycleStart, @MoveOut) + 1;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@DailyCharge DECIMAL(10,2) = @MonthlyCharge / 30;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@BaseCharge  DECIMAL(10,2) = @DailyCharge * @Days;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@UsageCharge DECIMAL(10,2) = @UsageKwh * @RatePerKwh;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@Total DECIMAL(10,2) = @BaseCharge + @UsageCharge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- @DepositHeld - @Credits;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(@Total &gt; 0 AND @Total &lt; 1.00)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(@Total &lt; 0 AND @Total &gt; -1.00)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 @Total = 0;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164592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dbo.usp_ProrateFinalBill  (called from 3 projects, changed 19 times this year)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498080" y="2048256"/>
            <a:ext cx="128016" cy="128016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735824" y="196596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DECIMAL(10,2) rounds, per day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35824" y="2258568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data type is a business rule. Nobody will ever find it with grep.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498080" y="3035808"/>
            <a:ext cx="128016" cy="128016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735824" y="2953512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/ 30, every month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7735824" y="3246120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"temporary" 2019 change. February is billed as if it had 30 days.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98080" y="4023360"/>
            <a:ext cx="128016" cy="128016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7735824" y="3941064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$1.00 write-off, both ways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735824" y="4233672"/>
            <a:ext cx="3877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2013. Refunds under a dollar quietly disappear.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525780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868680" y="525780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map</a:t>
            </a:r>
            <a:r>
              <a:rPr lang="en-US" sz="1450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counted 3 decisions in this procedure. Shadow traffic found two more, and neither one is an IF statement.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Shadow: run both, answer with the old one.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057400"/>
            <a:ext cx="6126480" cy="3429000"/>
          </a:xfrm>
          <a:prstGeom prst="roundRect">
            <a:avLst>
              <a:gd name="adj" fmla="val 1333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2185416"/>
            <a:ext cx="5760720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legacyResult = legacy.Calculate(request);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(route.Mode == RouteMode.Legacy) return legacyResult;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modernResult = modern.Calculate(request);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(modernResult.Total != legacyResult.Total)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onDifference(request, legacyResult, modernResult);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(Exception)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shadow must never break production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legacyResult;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1783080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modern/Tallgrass.FinalBill/FinalBillRouter.cs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7040880" y="218541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278624" y="210312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Sticky routing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278624" y="2395728"/>
            <a:ext cx="4334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Hash the account id into a bucket 0-99. A customer never flips between engines mid-lifecycle.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040880" y="323697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278624" y="315468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Attribute every difference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7278624" y="3447288"/>
            <a:ext cx="4334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a named legacy behavior, or it is "unexplained". Unexplained is the only word that matters.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040880" y="428853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7278624" y="4206240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Gate the dial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278624" y="4498848"/>
            <a:ext cx="4334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percentage cannot go up while anything is unexplained. Make the tool refuse, not the reviewer.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85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88720"/>
            <a:ext cx="10597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Strangle the stored procedure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6035040" cy="932688"/>
          </a:xfrm>
          <a:prstGeom prst="roundRect">
            <a:avLst>
              <a:gd name="adj" fmla="val 5882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68096" y="2414016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demo3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demo3-compat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quirk is a decision. None of them are bugs.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920240"/>
            <a:ext cx="5852160" cy="3017520"/>
          </a:xfrm>
          <a:prstGeom prst="roundRect">
            <a:avLst>
              <a:gd name="adj" fmla="val 1515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2048256"/>
            <a:ext cx="548640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Decided with Billing Ops and Regulatory.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Changing these is a tariff change,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not a side effect of a rewrite.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"rounding": "PerDay",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"monthBasis": "Thirty",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"smallBalanceWriteOffUnder": 1.00,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"decision": "BILL-2291: keep legacy proration;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revisit with the 2027 rate case"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16459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modern/final-bill.policy.json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720840" y="1920240"/>
            <a:ext cx="490118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949440" y="20848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modern code was right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243230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It did what the tariff says. It would also have changed 926 of 1,000 final bills, and nobody would have known why.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720840" y="3520440"/>
            <a:ext cx="49011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949440" y="3685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Compatibility is a feature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403250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Keep each quirk behind a named option. Turn it off later, on purpose, with an announcement and a date.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525780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868680" y="525780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rewrite is not allowed to make a business decision silently.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to modernize, and when to leave it alone.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7830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1929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MODERNIZE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68096" y="2258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 change, real incidents, on the roadmap.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68096" y="2770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will be in there anyway. Seam, pin, move.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297680" y="17830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4498848" y="1929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STRANGLE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98848" y="2258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Logic you must replace, called from many places.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770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Door, shadow, shift, remove.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28432" y="1783080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8229600" y="1929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F8C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GOING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22585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Changes a lot and already has seams.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27706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is what good looks like. Normal investment.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66928" y="3483864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768096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BF3F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hubs. Blast radius of most of the estate.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new dependencies. Move things out, never in.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297680" y="3483864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4498848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 ALONE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498848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Stable, correct, and ugly.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4498848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Fence it with a ratchet. Spend the money elsewhere.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028432" y="3483864"/>
            <a:ext cx="356616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8A97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822960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RETIRE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0" y="39593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Unused, or a symptom of bugs elsewhere.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0" y="44714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Delete it, or make it unnecessary.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66928" y="5330952"/>
            <a:ext cx="11055096" cy="566928"/>
          </a:xfrm>
          <a:prstGeom prst="roundRect">
            <a:avLst>
              <a:gd name="adj" fmla="val 9677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868680" y="5330952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Inputs: change, pain, coupling, and use. </a:t>
            </a:r>
            <a:r>
              <a:rPr lang="en-US" sz="1500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on the list: how ugly it is.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Ratchets: the legacy does not get to grow.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2057400"/>
            <a:ext cx="5669280" cy="2743200"/>
          </a:xfrm>
          <a:prstGeom prst="roundRect">
            <a:avLst>
              <a:gd name="adj" fmla="val 1667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68096" y="2185416"/>
            <a:ext cx="530352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 the API you are retiring: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[Obsolete("Use IBillingData. Removal: 2027-Q1")]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SqlDb Open() { ... }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Directory.Build.props --&gt;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visible, counted, not yet fatal --&gt;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&lt;TreatWarningsAsErrors&gt;true&lt;/TreatWarningsAsErrors&gt;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&lt;WarningsNotAsErrors&gt;CS0618&lt;/WarningsNotAsErrors&gt;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17830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COMPILER CAN SEE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492240" y="2057400"/>
            <a:ext cx="5129784" cy="2743200"/>
          </a:xfrm>
          <a:prstGeom prst="roundRect">
            <a:avLst>
              <a:gd name="adj" fmla="val 1667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693408" y="2185416"/>
            <a:ext cx="4764024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legacy ratchet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              baseline   now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ambient-time          124    125  [FAIL]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ambient-config        109    110  [FAIL]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0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newed-service          20     21  [FAIL]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DelinquencyAgingReport.cs:15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billing = new BillingManager();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492240" y="1783080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CANNOT: COUNT IT, COMMIT THE BASELINE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66928" y="5212080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868680" y="521208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will not remove 124 DateTime.Now calls this quarter. You can make sure there is never a 125th.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685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9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4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188720"/>
            <a:ext cx="10597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Triage and the ratchet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566928" y="2286000"/>
            <a:ext cx="6035040" cy="932688"/>
          </a:xfrm>
          <a:prstGeom prst="roundRect">
            <a:avLst>
              <a:gd name="adj" fmla="val 5882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68096" y="2414016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demo4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.\demo.ps1 demo4-fix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things I would tell myself on day one.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47088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1847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181051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target framework upgrade is plumbing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179222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 can retarget every project in a weekend. None of them will cut a seam or shrink a hub.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66928" y="2615184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66928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Get one characterization test green in week one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126480" y="2560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Credibility with the business comes from "we can prove it did not change", not from diagrams.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383280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6692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33467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Put a door in front, and give the dial an owner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126480" y="33284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Before you write a line of the replacement. Without both, the new side stalls at one commit.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4151376"/>
            <a:ext cx="347472" cy="347472"/>
          </a:xfrm>
          <a:prstGeom prst="ellipse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566928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097280" y="411480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Ratchet before you refactor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126480" y="40965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Otherwise you are bailing out a boat that is still taking on water.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66928" y="491947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66928" y="4919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" y="4882896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Write down what you are leaving alone, and why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126480" y="48646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Otherwise the next team "fixes" the most stable code you have.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adoption ladder. Every rung pays first.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37944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566928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9728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Map + signals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2157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  ·  an afternoon of tooling, a week of conversations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36208" y="1837944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6236208" y="1837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766560" y="18105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Ratchet baseline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21579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  ·  stops the bleeding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66928" y="2624328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56692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097280" y="25968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First seam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09728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  ·  one constructor, the hottest method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36208" y="2624328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623620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25968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Characterization suite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29443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  ·  recorded from production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66928" y="341071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6692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One door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1097280" y="3730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3  ·  in front of one proc or endpoint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236208" y="3410712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6236208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766560" y="3383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Shadow</a:t>
            </a:r>
            <a:endParaRPr lang="en-US" sz="1500" dirty="0"/>
          </a:p>
        </p:txBody>
      </p:sp>
      <p:sp>
        <p:nvSpPr>
          <p:cNvPr id="29" name="Text 25"/>
          <p:cNvSpPr txBox="1"/>
          <p:nvPr/>
        </p:nvSpPr>
        <p:spPr>
          <a:xfrm>
            <a:off x="6766560" y="37307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2  ·  every difference attributed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66928" y="4197096"/>
            <a:ext cx="347472" cy="347472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566928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1097280" y="4169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Shift 5% → 100%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1097280" y="4517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3  ·  gated on the shadow verdict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236208" y="4197096"/>
            <a:ext cx="347472" cy="347472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6236208" y="4197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766560" y="41696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Delete the old path</a:t>
            </a:r>
            <a:endParaRPr lang="en-US" sz="1500" dirty="0"/>
          </a:p>
        </p:txBody>
      </p:sp>
      <p:sp>
        <p:nvSpPr>
          <p:cNvPr id="37" name="Text 33"/>
          <p:cNvSpPr txBox="1"/>
          <p:nvPr/>
        </p:nvSpPr>
        <p:spPr>
          <a:xfrm>
            <a:off x="6766560" y="45171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7282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quarter  ·  the only rung that lowers cost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566928" y="5138928"/>
            <a:ext cx="11055096" cy="640080"/>
          </a:xfrm>
          <a:prstGeom prst="roundRect">
            <a:avLst>
              <a:gd name="adj" fmla="val 8571"/>
            </a:avLst>
          </a:prstGeom>
          <a:solidFill>
            <a:srgbClr val="E9EEF2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 txBox="1"/>
          <p:nvPr/>
        </p:nvSpPr>
        <p:spPr>
          <a:xfrm>
            <a:off x="868680" y="513892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Notice what is not on the ladder: a rewrite, a new framework, or a migration project with its own budget code.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1143000"/>
            <a:ext cx="110550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do not modernize a codebase.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modernize your </a:t>
            </a:r>
            <a:r>
              <a:rPr lang="en-US" sz="3400" b="1" dirty="0">
                <a:solidFill>
                  <a:srgbClr val="D990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ability to change it</a:t>
            </a: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66928" y="3108960"/>
            <a:ext cx="118872" cy="118872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30175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Map it before you touch 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66928" y="3566160"/>
            <a:ext cx="118872" cy="118872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Seam it before you change it.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66928" y="4023360"/>
            <a:ext cx="118872" cy="118872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822960" y="39319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Put a door in front before you replace it.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66928" y="4754880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41248" y="47548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902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And leave the rest alone: on purpose, in writing, behind a ratchet.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topb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7744"/>
          </a:xfrm>
          <a:prstGeom prst="rect">
            <a:avLst/>
          </a:prstGeom>
        </p:spPr>
      </p:pic>
      <p:pic>
        <p:nvPicPr>
          <p:cNvPr id="3" name="Image 1" descr="/home/claude/work/deck/media/logo-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786384"/>
            <a:ext cx="11055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A192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Take it home.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566928" y="182880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9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822960" y="2011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demo repository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github.com/benjamhooper/dotnet-legacy-demo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22960" y="2880360"/>
            <a:ext cx="4983480" cy="1051560"/>
          </a:xfrm>
          <a:prstGeom prst="roundRect">
            <a:avLst>
              <a:gd name="adj" fmla="val 4348"/>
            </a:avLst>
          </a:prstGeom>
          <a:solidFill>
            <a:srgbClr val="0A1929"/>
          </a:solidFill>
          <a:ln w="12700">
            <a:solidFill>
              <a:srgbClr val="102A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24128" y="3008376"/>
            <a:ext cx="46177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.\demo.ps1 verify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5DE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.\demo.ps1 demo1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114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Everything runs offline: no database, no cloud account, no NuGet feed. The .NET 10 SDK is the entire list of requirements. Point legacy map at your own estate/ folder on Monday.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200253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6638544" y="192024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Working Effectively with Legacy Code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6638544" y="2212848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Michael Feathers  ·  seams, characterization tests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0" y="287121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638544" y="278892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StranglerFigApplication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6638544" y="3081528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Martin Fowler, martinfowler.com  ·  the pattern and its history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0" y="373989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6638544" y="365760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Code as a Crime Scene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6638544" y="3950208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Adam Tornhill  ·  hotspots from version control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0" y="4608576"/>
            <a:ext cx="128016" cy="128016"/>
          </a:xfrm>
          <a:prstGeom prst="ellipse">
            <a:avLst/>
          </a:prstGeom>
          <a:solidFill>
            <a:srgbClr val="0092DB"/>
          </a:solidFill>
          <a:ln w="12700">
            <a:solidFill>
              <a:srgbClr val="0092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638544" y="4526280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A19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Incremental ASP.NET to ASP.NET Core migration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638544" y="4818888"/>
            <a:ext cx="4974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3B4A57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 Learn  ·  YARP + System.Web adapters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media/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6345936"/>
            <a:ext cx="1188720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984687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66928" y="1316736"/>
            <a:ext cx="155448" cy="155448"/>
          </a:xfrm>
          <a:prstGeom prst="ellipse">
            <a:avLst/>
          </a:prstGeom>
          <a:solidFill>
            <a:srgbClr val="BF3F35"/>
          </a:solidFill>
          <a:ln w="12700">
            <a:solidFill>
              <a:srgbClr val="BF3F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841248" y="1316736"/>
            <a:ext cx="155448" cy="155448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115568" y="1316736"/>
            <a:ext cx="155448" cy="155448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389888" y="1316736"/>
            <a:ext cx="155448" cy="155448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664208" y="1316736"/>
            <a:ext cx="155448" cy="155448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938528" y="1316736"/>
            <a:ext cx="155448" cy="155448"/>
          </a:xfrm>
          <a:prstGeom prst="ellipse">
            <a:avLst/>
          </a:prstGeom>
          <a:solidFill>
            <a:srgbClr val="3F8C60"/>
          </a:solidFill>
          <a:ln w="12700">
            <a:solidFill>
              <a:srgbClr val="3F8C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66928" y="1691640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688336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TALK</a:t>
            </a:r>
            <a:endParaRPr lang="en-US" sz="1100" dirty="0"/>
          </a:p>
        </p:txBody>
      </p:sp>
      <p:pic>
        <p:nvPicPr>
          <p:cNvPr id="12" name="Image 1" descr="/home/claude/work/deck/media/head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90672"/>
            <a:ext cx="1252728" cy="1252728"/>
          </a:xfrm>
          <a:prstGeom prst="ellipse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66544" y="315468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Ben Hooper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2066544" y="3712464"/>
            <a:ext cx="3803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92DB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Measure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66928" y="459028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ben.hooper@clear-measure.com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66928" y="499262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6D0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github.com/benjamhooper/dotnet-legacy-demo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318504" y="2688336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92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FEEDBACK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19288" y="3090672"/>
            <a:ext cx="1901952" cy="1901952"/>
          </a:xfrm>
          <a:prstGeom prst="roundRect">
            <a:avLst>
              <a:gd name="adj" fmla="val 2885"/>
            </a:avLst>
          </a:prstGeom>
          <a:solidFill>
            <a:srgbClr val="102A3F"/>
          </a:solidFill>
          <a:ln w="12700">
            <a:solidFill>
              <a:srgbClr val="2C3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685070" y="5648747"/>
            <a:ext cx="6640420" cy="435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C6D0D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Scan to give session feedback</a:t>
            </a:r>
            <a:endParaRPr lang="en-US" sz="15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16B597A-AE91-3F36-C823-BFBC26DBA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171" y="2993137"/>
            <a:ext cx="2558218" cy="2634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3828</Words>
  <Application>Microsoft Office PowerPoint</Application>
  <PresentationFormat>Widescreen</PresentationFormat>
  <Paragraphs>591</Paragraphs>
  <Slides>29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Courier New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Clear Measure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Real-World .NET in the Enterprise: What Changes When Your Codebase Has 10 Years of History</dc:title>
  <dc:subject>PptxGenJS Presentation</dc:subject>
  <dc:creator>Ben Hooper</dc:creator>
  <cp:lastModifiedBy>Ben Hooper</cp:lastModifiedBy>
  <cp:revision>4</cp:revision>
  <dcterms:created xsi:type="dcterms:W3CDTF">2026-10-13T20:47:47Z</dcterms:created>
  <dcterms:modified xsi:type="dcterms:W3CDTF">2026-10-14T22:45:04Z</dcterms:modified>
</cp:coreProperties>
</file>